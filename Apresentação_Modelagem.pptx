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2B4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-1" y="1471099"/>
            <a:ext cx="1218895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300" sz="1300">
                <a:solidFill>
                  <a:srgbClr val="C9A227"/>
                </a:solidFill>
              </a:defRPr>
            </a:lvl1pPr>
          </a:lstStyle>
          <a:p>
            <a:pPr/>
            <a:r>
              <a:t>FUCAPE BUSINESS SCHOOL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914399" y="2085657"/>
            <a:ext cx="10360154" cy="1223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4999"/>
              </a:lnSpc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Normalizando o catálogo</a:t>
            </a:r>
          </a:p>
          <a:p>
            <a:pPr algn="ctr">
              <a:lnSpc>
                <a:spcPct val="104999"/>
              </a:lnSpc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que alimenta nossa busca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371599" y="3797126"/>
            <a:ext cx="9445754" cy="45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20000"/>
              </a:lnSpc>
              <a:defRPr sz="1500">
                <a:solidFill>
                  <a:srgbClr val="C7CEDC"/>
                </a:solidFill>
              </a:defRPr>
            </a:pPr>
            <a:r>
              <a:t>T1 Modelagem Informacional — Trilha C</a:t>
            </a:r>
          </a:p>
          <a:p>
            <a:pPr algn="ctr">
              <a:lnSpc>
                <a:spcPct val="120000"/>
              </a:lnSpc>
              <a:defRPr sz="1500">
                <a:solidFill>
                  <a:srgbClr val="C7CEDC"/>
                </a:solidFill>
              </a:defRPr>
            </a:pPr>
            <a:r>
              <a:t>Mesmo dataset real usado no trabalho de Recuperação da Informação</a:t>
            </a:r>
          </a:p>
        </p:txBody>
      </p:sp>
      <p:sp>
        <p:nvSpPr>
          <p:cNvPr id="24" name="Shape 4"/>
          <p:cNvSpPr/>
          <p:nvPr/>
        </p:nvSpPr>
        <p:spPr>
          <a:xfrm>
            <a:off x="2093976" y="4663440"/>
            <a:ext cx="1828801" cy="411481"/>
          </a:xfrm>
          <a:prstGeom prst="roundRect">
            <a:avLst>
              <a:gd name="adj" fmla="val 48889"/>
            </a:avLst>
          </a:prstGeom>
          <a:solidFill>
            <a:srgbClr val="25406E"/>
          </a:solidFill>
          <a:ln>
            <a:solidFill>
              <a:srgbClr val="C9A22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2093976" y="4800644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4E9C8"/>
                </a:solidFill>
              </a:defRPr>
            </a:lvl1pPr>
          </a:lstStyle>
          <a:p>
            <a:pPr/>
            <a:r>
              <a:t>4.566 PRODUTOS</a:t>
            </a:r>
          </a:p>
        </p:txBody>
      </p:sp>
      <p:sp>
        <p:nvSpPr>
          <p:cNvPr id="26" name="Shape 6"/>
          <p:cNvSpPr/>
          <p:nvPr/>
        </p:nvSpPr>
        <p:spPr>
          <a:xfrm>
            <a:off x="4151376" y="4663440"/>
            <a:ext cx="1828801" cy="411481"/>
          </a:xfrm>
          <a:prstGeom prst="roundRect">
            <a:avLst>
              <a:gd name="adj" fmla="val 48889"/>
            </a:avLst>
          </a:prstGeom>
          <a:solidFill>
            <a:srgbClr val="25406E"/>
          </a:solidFill>
          <a:ln>
            <a:solidFill>
              <a:srgbClr val="C9A22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4151376" y="4800644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4E9C8"/>
                </a:solidFill>
              </a:defRPr>
            </a:lvl1pPr>
          </a:lstStyle>
          <a:p>
            <a:pPr/>
            <a:r>
              <a:t>57 MARCAS</a:t>
            </a:r>
          </a:p>
        </p:txBody>
      </p:sp>
      <p:sp>
        <p:nvSpPr>
          <p:cNvPr id="28" name="Shape 8"/>
          <p:cNvSpPr/>
          <p:nvPr/>
        </p:nvSpPr>
        <p:spPr>
          <a:xfrm>
            <a:off x="6208776" y="4663440"/>
            <a:ext cx="1828801" cy="411481"/>
          </a:xfrm>
          <a:prstGeom prst="roundRect">
            <a:avLst>
              <a:gd name="adj" fmla="val 48889"/>
            </a:avLst>
          </a:prstGeom>
          <a:solidFill>
            <a:srgbClr val="25406E"/>
          </a:solidFill>
          <a:ln>
            <a:solidFill>
              <a:srgbClr val="C9A22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6208776" y="4800644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4E9C8"/>
                </a:solidFill>
              </a:defRPr>
            </a:lvl1pPr>
          </a:lstStyle>
          <a:p>
            <a:pPr/>
            <a:r>
              <a:t>DER · MERMAID</a:t>
            </a:r>
          </a:p>
        </p:txBody>
      </p:sp>
      <p:sp>
        <p:nvSpPr>
          <p:cNvPr id="30" name="Shape 10"/>
          <p:cNvSpPr/>
          <p:nvPr/>
        </p:nvSpPr>
        <p:spPr>
          <a:xfrm>
            <a:off x="8266176" y="4663440"/>
            <a:ext cx="1828801" cy="411481"/>
          </a:xfrm>
          <a:prstGeom prst="roundRect">
            <a:avLst>
              <a:gd name="adj" fmla="val 48889"/>
            </a:avLst>
          </a:prstGeom>
          <a:solidFill>
            <a:srgbClr val="25406E"/>
          </a:solidFill>
          <a:ln>
            <a:solidFill>
              <a:srgbClr val="C9A22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8266176" y="4800644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4E9C8"/>
                </a:solidFill>
              </a:defRPr>
            </a:lvl1pPr>
          </a:lstStyle>
          <a:p>
            <a:pPr/>
            <a:r>
              <a:t>SQL + CHECK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-1" y="6242225"/>
            <a:ext cx="1218895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A3B5"/>
                </a:solidFill>
              </a:defRPr>
            </a:lvl1pPr>
          </a:lstStyle>
          <a:p>
            <a:pPr/>
            <a:r>
              <a:t>Carlos  ·  Setembro de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 txBox="1"/>
          <p:nvPr/>
        </p:nvSpPr>
        <p:spPr>
          <a:xfrm>
            <a:off x="548640" y="4473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01 · CONTEXTO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548640" y="777239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Um CSV real, cheio de defeitos</a:t>
            </a:r>
          </a:p>
        </p:txBody>
      </p:sp>
      <p:sp>
        <p:nvSpPr>
          <p:cNvPr id="36" name="Text 2"/>
          <p:cNvSpPr txBox="1"/>
          <p:nvPr/>
        </p:nvSpPr>
        <p:spPr>
          <a:xfrm>
            <a:off x="548640" y="133393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270"/>
                </a:solidFill>
              </a:defRPr>
            </a:lvl1pPr>
          </a:lstStyle>
          <a:p>
            <a:pPr/>
            <a:r>
              <a:t>products.csv — o mesmo corpus usado no motor de busca do T1 de RI</a:t>
            </a:r>
          </a:p>
        </p:txBody>
      </p:sp>
      <p:sp>
        <p:nvSpPr>
          <p:cNvPr id="37" name="Shape 3"/>
          <p:cNvSpPr/>
          <p:nvPr/>
        </p:nvSpPr>
        <p:spPr>
          <a:xfrm>
            <a:off x="548640" y="1920239"/>
            <a:ext cx="164593" cy="164593"/>
          </a:xfrm>
          <a:prstGeom prst="ellipse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4"/>
          <p:cNvSpPr txBox="1"/>
          <p:nvPr/>
        </p:nvSpPr>
        <p:spPr>
          <a:xfrm>
            <a:off x="868679" y="1935288"/>
            <a:ext cx="98755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A2B4C"/>
                </a:solidFill>
              </a:defRPr>
            </a:pPr>
            <a:r>
              <a:t>1FN quebrada  </a:t>
            </a:r>
            <a:r>
              <a:rPr b="0">
                <a:solidFill>
                  <a:srgbClr val="1B1E24"/>
                </a:solidFill>
              </a:rPr>
              <a:t>tamanhos numa célula só — "Size:Medium,Small,X-Large"</a:t>
            </a:r>
          </a:p>
        </p:txBody>
      </p:sp>
      <p:sp>
        <p:nvSpPr>
          <p:cNvPr id="39" name="Shape 5"/>
          <p:cNvSpPr/>
          <p:nvPr/>
        </p:nvSpPr>
        <p:spPr>
          <a:xfrm>
            <a:off x="548640" y="2514600"/>
            <a:ext cx="164593" cy="164593"/>
          </a:xfrm>
          <a:prstGeom prst="ellipse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6"/>
          <p:cNvSpPr txBox="1"/>
          <p:nvPr/>
        </p:nvSpPr>
        <p:spPr>
          <a:xfrm>
            <a:off x="868679" y="2529648"/>
            <a:ext cx="98755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A2B4C"/>
                </a:solidFill>
              </a:defRPr>
            </a:pPr>
            <a:r>
              <a:t>Redundância  </a:t>
            </a:r>
            <a:r>
              <a:rPr b="0">
                <a:solidFill>
                  <a:srgbClr val="1B1E24"/>
                </a:solidFill>
              </a:rPr>
              <a:t>marca "and" repetida em 709 linhas idênticas</a:t>
            </a:r>
          </a:p>
        </p:txBody>
      </p:sp>
      <p:sp>
        <p:nvSpPr>
          <p:cNvPr id="41" name="Shape 7"/>
          <p:cNvSpPr/>
          <p:nvPr/>
        </p:nvSpPr>
        <p:spPr>
          <a:xfrm>
            <a:off x="548640" y="3108960"/>
            <a:ext cx="164593" cy="164593"/>
          </a:xfrm>
          <a:prstGeom prst="ellipse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8"/>
          <p:cNvSpPr txBox="1"/>
          <p:nvPr/>
        </p:nvSpPr>
        <p:spPr>
          <a:xfrm>
            <a:off x="868679" y="3124008"/>
            <a:ext cx="98755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A2B4C"/>
                </a:solidFill>
              </a:defRPr>
            </a:pPr>
            <a:r>
              <a:t>Categoria embutida  </a:t>
            </a:r>
            <a:r>
              <a:rPr b="0">
                <a:solidFill>
                  <a:srgbClr val="1B1E24"/>
                </a:solidFill>
              </a:rPr>
              <a:t>no meio do texto do nome do produto</a:t>
            </a:r>
          </a:p>
        </p:txBody>
      </p:sp>
      <p:sp>
        <p:nvSpPr>
          <p:cNvPr id="43" name="Shape 9"/>
          <p:cNvSpPr/>
          <p:nvPr/>
        </p:nvSpPr>
        <p:spPr>
          <a:xfrm>
            <a:off x="548640" y="3794759"/>
            <a:ext cx="10789920" cy="1097281"/>
          </a:xfrm>
          <a:prstGeom prst="roundRect">
            <a:avLst>
              <a:gd name="adj" fmla="val 5000"/>
            </a:avLst>
          </a:prstGeom>
          <a:solidFill>
            <a:srgbClr val="F7E6E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0"/>
          <p:cNvSpPr/>
          <p:nvPr/>
        </p:nvSpPr>
        <p:spPr>
          <a:xfrm>
            <a:off x="548640" y="3794759"/>
            <a:ext cx="54865" cy="1097281"/>
          </a:xfrm>
          <a:prstGeom prst="rect">
            <a:avLst/>
          </a:prstGeom>
          <a:solidFill>
            <a:srgbClr val="A932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1"/>
          <p:cNvSpPr txBox="1"/>
          <p:nvPr/>
        </p:nvSpPr>
        <p:spPr>
          <a:xfrm>
            <a:off x="777239" y="4264967"/>
            <a:ext cx="103784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B1E24"/>
                </a:solidFill>
              </a:defRPr>
            </a:lvl1pPr>
          </a:lstStyle>
          <a:p>
            <a:pPr/>
            <a:r>
              <a:t>Achado real mais forte: 1.251 de 4.566 produtos (27%) têm o preço de tabela quebrado — valor fixo "8.9" para itens de centenas de rúpias.</a:t>
            </a:r>
          </a:p>
        </p:txBody>
      </p:sp>
      <p:sp>
        <p:nvSpPr>
          <p:cNvPr id="46" name="Text 12"/>
          <p:cNvSpPr txBox="1"/>
          <p:nvPr/>
        </p:nvSpPr>
        <p:spPr>
          <a:xfrm>
            <a:off x="548640" y="647445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/>
            <a:r>
              <a:t>T1 ·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 txBox="1"/>
          <p:nvPr/>
        </p:nvSpPr>
        <p:spPr>
          <a:xfrm>
            <a:off x="548640" y="4473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02 · MODELAGEM</a:t>
            </a:r>
          </a:p>
        </p:txBody>
      </p:sp>
      <p:sp>
        <p:nvSpPr>
          <p:cNvPr id="49" name="Text 1"/>
          <p:cNvSpPr txBox="1"/>
          <p:nvPr/>
        </p:nvSpPr>
        <p:spPr>
          <a:xfrm>
            <a:off x="548640" y="777239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Diagrama Entidade-Relacionamento</a:t>
            </a:r>
          </a:p>
        </p:txBody>
      </p:sp>
      <p:sp>
        <p:nvSpPr>
          <p:cNvPr id="50" name="Text 2"/>
          <p:cNvSpPr txBox="1"/>
          <p:nvPr/>
        </p:nvSpPr>
        <p:spPr>
          <a:xfrm>
            <a:off x="548640" y="133393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270"/>
                </a:solidFill>
              </a:defRPr>
            </a:lvl1pPr>
          </a:lstStyle>
          <a:p>
            <a:pPr/>
            <a:r>
              <a:t>5 entidades — Produto_Tamanho resolve o N:N entre produto e tamanho</a:t>
            </a:r>
          </a:p>
        </p:txBody>
      </p:sp>
      <p:pic>
        <p:nvPicPr>
          <p:cNvPr id="51" name="Captura de Tela 2026-09-30 às 20.37.13.png" descr="Captura de Tela 2026-09-30 às 20.37.13.png"/>
          <p:cNvPicPr>
            <a:picLocks noChangeAspect="1"/>
          </p:cNvPicPr>
          <p:nvPr/>
        </p:nvPicPr>
        <p:blipFill>
          <a:blip r:embed="rId2">
            <a:extLst/>
          </a:blip>
          <a:srcRect l="0" t="2316" r="0" b="375"/>
          <a:stretch>
            <a:fillRect/>
          </a:stretch>
        </p:blipFill>
        <p:spPr>
          <a:xfrm>
            <a:off x="1618501" y="1768383"/>
            <a:ext cx="8375878" cy="46129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ln w="12700">
            <a:solidFill>
              <a:srgbClr val="E4E1D8"/>
            </a:solidFill>
          </a:ln>
        </p:spPr>
      </p:pic>
      <p:sp>
        <p:nvSpPr>
          <p:cNvPr id="52" name="Text 4"/>
          <p:cNvSpPr txBox="1"/>
          <p:nvPr/>
        </p:nvSpPr>
        <p:spPr>
          <a:xfrm>
            <a:off x="548640" y="647445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/>
            <a:r>
              <a:t>T1 ·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 txBox="1"/>
          <p:nvPr/>
        </p:nvSpPr>
        <p:spPr>
          <a:xfrm>
            <a:off x="548640" y="4473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03 · NORMALIZAÇÃO</a:t>
            </a:r>
          </a:p>
        </p:txBody>
      </p:sp>
      <p:sp>
        <p:nvSpPr>
          <p:cNvPr id="55" name="Text 1"/>
          <p:cNvSpPr txBox="1"/>
          <p:nvPr/>
        </p:nvSpPr>
        <p:spPr>
          <a:xfrm>
            <a:off x="548640" y="777239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De 0FN até 3FN</a:t>
            </a:r>
          </a:p>
        </p:txBody>
      </p:sp>
      <p:sp>
        <p:nvSpPr>
          <p:cNvPr id="56" name="Text 2"/>
          <p:cNvSpPr txBox="1"/>
          <p:nvPr/>
        </p:nvSpPr>
        <p:spPr>
          <a:xfrm>
            <a:off x="548640" y="133393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270"/>
                </a:solidFill>
              </a:defRPr>
            </a:lvl1pPr>
          </a:lstStyle>
          <a:p>
            <a:pPr/>
            <a:r>
              <a:t>Cada etapa resolve um problema visto no CSV real</a:t>
            </a:r>
          </a:p>
        </p:txBody>
      </p:sp>
      <p:graphicFrame>
        <p:nvGraphicFramePr>
          <p:cNvPr id="57" name="Table 0"/>
          <p:cNvGraphicFramePr/>
          <p:nvPr/>
        </p:nvGraphicFramePr>
        <p:xfrm>
          <a:off x="548640" y="1828800"/>
          <a:ext cx="10789920" cy="20116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8720"/>
                <a:gridCol w="4572000"/>
                <a:gridCol w="502920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Forma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Ação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B1E24"/>
                          </a:solidFill>
                        </a:rPr>
                        <a:t>1FN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Lista de tamanhos numa célula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Cria produto_tamanho, 1 linha por tamanho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B1E24"/>
                          </a:solidFill>
                        </a:rPr>
                        <a:t>2FN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Marca/categoria repetiriam por tamanho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Extrai produto independente do tamanho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B1E24"/>
                          </a:solidFill>
                        </a:rPr>
                        <a:t>3FN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Nome da marca dependia transitivamente do produto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Cria marca e categoria próprias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Shape 3"/>
          <p:cNvSpPr/>
          <p:nvPr/>
        </p:nvSpPr>
        <p:spPr>
          <a:xfrm>
            <a:off x="548640" y="4160520"/>
            <a:ext cx="10789920" cy="777241"/>
          </a:xfrm>
          <a:prstGeom prst="roundRect">
            <a:avLst>
              <a:gd name="adj" fmla="val 7059"/>
            </a:avLst>
          </a:prstGeom>
          <a:solidFill>
            <a:srgbClr val="F4E9C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4"/>
          <p:cNvSpPr/>
          <p:nvPr/>
        </p:nvSpPr>
        <p:spPr>
          <a:xfrm>
            <a:off x="548640" y="4160520"/>
            <a:ext cx="54865" cy="777241"/>
          </a:xfrm>
          <a:prstGeom prst="rect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5"/>
          <p:cNvSpPr txBox="1"/>
          <p:nvPr/>
        </p:nvSpPr>
        <p:spPr>
          <a:xfrm>
            <a:off x="777239" y="4470707"/>
            <a:ext cx="103784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B1E24"/>
                </a:solidFill>
              </a:defRPr>
            </a:lvl1pPr>
          </a:lstStyle>
          <a:p>
            <a:pPr/>
            <a:r>
              <a:t>Extra: desconto não é coluna — é calculado na view a partir de preco_tabela e preco_venda.</a:t>
            </a:r>
          </a:p>
        </p:txBody>
      </p:sp>
      <p:sp>
        <p:nvSpPr>
          <p:cNvPr id="61" name="Text 6"/>
          <p:cNvSpPr txBox="1"/>
          <p:nvPr/>
        </p:nvSpPr>
        <p:spPr>
          <a:xfrm>
            <a:off x="548640" y="647445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/>
            <a:r>
              <a:t>T1 ·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548640" y="4473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04 · BANCO_DADOS.SQL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548640" y="777239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constraint que importa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548640" y="133393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270"/>
                </a:solidFill>
              </a:defRPr>
            </a:lvl1pPr>
          </a:lstStyle>
          <a:p>
            <a:pPr/>
            <a:r>
              <a:t>CHECK barra ativamente o dado inválido encontrado no CSV</a:t>
            </a:r>
          </a:p>
        </p:txBody>
      </p:sp>
      <p:sp>
        <p:nvSpPr>
          <p:cNvPr id="66" name="Shape 3"/>
          <p:cNvSpPr/>
          <p:nvPr/>
        </p:nvSpPr>
        <p:spPr>
          <a:xfrm>
            <a:off x="548640" y="1975104"/>
            <a:ext cx="146305" cy="146305"/>
          </a:xfrm>
          <a:prstGeom prst="ellipse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4"/>
          <p:cNvSpPr txBox="1"/>
          <p:nvPr/>
        </p:nvSpPr>
        <p:spPr>
          <a:xfrm>
            <a:off x="868679" y="2038027"/>
            <a:ext cx="49377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1E24"/>
                </a:solidFill>
              </a:defRPr>
            </a:lvl1pPr>
          </a:lstStyle>
          <a:p>
            <a:pPr/>
            <a:r>
              <a:t>PK/FK em todas as tabelas</a:t>
            </a:r>
          </a:p>
        </p:txBody>
      </p:sp>
      <p:sp>
        <p:nvSpPr>
          <p:cNvPr id="68" name="Shape 5"/>
          <p:cNvSpPr/>
          <p:nvPr/>
        </p:nvSpPr>
        <p:spPr>
          <a:xfrm>
            <a:off x="548640" y="2660904"/>
            <a:ext cx="146305" cy="146305"/>
          </a:xfrm>
          <a:prstGeom prst="ellipse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6"/>
          <p:cNvSpPr txBox="1"/>
          <p:nvPr/>
        </p:nvSpPr>
        <p:spPr>
          <a:xfrm>
            <a:off x="868679" y="2723827"/>
            <a:ext cx="49377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1E24"/>
                </a:solidFill>
              </a:defRPr>
            </a:lvl1pPr>
          </a:lstStyle>
          <a:p>
            <a:pPr/>
            <a:r>
              <a:t>UNIQUE em codigo_produto — sem produto duplicado</a:t>
            </a:r>
          </a:p>
        </p:txBody>
      </p:sp>
      <p:sp>
        <p:nvSpPr>
          <p:cNvPr id="70" name="Shape 7"/>
          <p:cNvSpPr/>
          <p:nvPr/>
        </p:nvSpPr>
        <p:spPr>
          <a:xfrm>
            <a:off x="548640" y="3346703"/>
            <a:ext cx="146305" cy="146305"/>
          </a:xfrm>
          <a:prstGeom prst="ellipse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8"/>
          <p:cNvSpPr txBox="1"/>
          <p:nvPr/>
        </p:nvSpPr>
        <p:spPr>
          <a:xfrm>
            <a:off x="868679" y="3409627"/>
            <a:ext cx="49377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B1E24"/>
                </a:solidFill>
              </a:defRPr>
            </a:lvl1pPr>
          </a:lstStyle>
          <a:p>
            <a:pPr/>
            <a:r>
              <a:t>CHECK (preco_tabela IS NULL OR preco_tabela &gt;= preco_venda)</a:t>
            </a:r>
          </a:p>
        </p:txBody>
      </p:sp>
      <p:sp>
        <p:nvSpPr>
          <p:cNvPr id="72" name="Shape 9"/>
          <p:cNvSpPr/>
          <p:nvPr/>
        </p:nvSpPr>
        <p:spPr>
          <a:xfrm>
            <a:off x="6126479" y="1920239"/>
            <a:ext cx="5212081" cy="2377441"/>
          </a:xfrm>
          <a:prstGeom prst="roundRect">
            <a:avLst>
              <a:gd name="adj" fmla="val 3077"/>
            </a:avLst>
          </a:prstGeom>
          <a:solidFill>
            <a:srgbClr val="E4F0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0"/>
          <p:cNvSpPr/>
          <p:nvPr/>
        </p:nvSpPr>
        <p:spPr>
          <a:xfrm>
            <a:off x="6126479" y="1920239"/>
            <a:ext cx="64009" cy="2377441"/>
          </a:xfrm>
          <a:prstGeom prst="rect">
            <a:avLst/>
          </a:prstGeom>
          <a:solidFill>
            <a:srgbClr val="2F7D5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1"/>
          <p:cNvSpPr txBox="1"/>
          <p:nvPr/>
        </p:nvSpPr>
        <p:spPr>
          <a:xfrm>
            <a:off x="6400800" y="2103120"/>
            <a:ext cx="470916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A2B4C"/>
                </a:solidFill>
              </a:defRPr>
            </a:pPr>
            <a:r>
              <a:t>Demo ao vivo</a:t>
            </a:r>
          </a:p>
          <a:p>
            <a:pPr>
              <a:defRPr b="1" sz="1400">
                <a:solidFill>
                  <a:srgbClr val="1A2B4C"/>
                </a:solidFill>
              </a:defRPr>
            </a:pPr>
            <a:r>
              <a:rPr b="0" sz="1300">
                <a:solidFill>
                  <a:srgbClr val="1B1E24"/>
                </a:solidFill>
              </a:rPr>
              <a:t>Inserir um produto com preço de tabela menor que o de venda é rejeitado:</a:t>
            </a:r>
            <a:endParaRPr b="0" sz="1300">
              <a:solidFill>
                <a:srgbClr val="1B1E24"/>
              </a:solidFill>
            </a:endParaRPr>
          </a:p>
          <a:p>
            <a:pPr>
              <a:defRPr b="1" sz="1400">
                <a:solidFill>
                  <a:srgbClr val="1A2B4C"/>
                </a:solidFill>
              </a:defRPr>
            </a:pPr>
            <a:endParaRPr b="0" sz="1300">
              <a:solidFill>
                <a:srgbClr val="1B1E24"/>
              </a:solidFill>
            </a:endParaRPr>
          </a:p>
          <a:p>
            <a:pPr>
              <a:defRPr b="1" sz="1400">
                <a:solidFill>
                  <a:srgbClr val="1A2B4C"/>
                </a:solidFill>
              </a:defRPr>
            </a:pPr>
            <a:r>
              <a:rPr sz="1200">
                <a:solidFill>
                  <a:srgbClr val="A93226"/>
                </a:solidFill>
                <a:latin typeface="Courier New"/>
                <a:ea typeface="Courier New"/>
                <a:cs typeface="Courier New"/>
                <a:sym typeface="Courier New"/>
              </a:rPr>
              <a:t>CHECK constraint failed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548640" y="647445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/>
            <a:r>
              <a:t>T1 ·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 txBox="1"/>
          <p:nvPr/>
        </p:nvSpPr>
        <p:spPr>
          <a:xfrm>
            <a:off x="548640" y="4473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05 · ETL_E_CARGA.PY</a:t>
            </a:r>
          </a:p>
        </p:txBody>
      </p:sp>
      <p:sp>
        <p:nvSpPr>
          <p:cNvPr id="78" name="Text 1"/>
          <p:cNvSpPr txBox="1"/>
          <p:nvPr/>
        </p:nvSpPr>
        <p:spPr>
          <a:xfrm>
            <a:off x="548640" y="777239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Pipeline em 3 passos</a:t>
            </a:r>
          </a:p>
        </p:txBody>
      </p:sp>
      <p:sp>
        <p:nvSpPr>
          <p:cNvPr id="79" name="Text 2"/>
          <p:cNvSpPr txBox="1"/>
          <p:nvPr/>
        </p:nvSpPr>
        <p:spPr>
          <a:xfrm>
            <a:off x="548640" y="133393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270"/>
                </a:solidFill>
              </a:defRPr>
            </a:lvl1pPr>
          </a:lstStyle>
          <a:p>
            <a:pPr/>
            <a:r>
              <a:t>Um único arquivo: limpa, cria o schema, carrega e testa</a:t>
            </a:r>
          </a:p>
        </p:txBody>
      </p:sp>
      <p:sp>
        <p:nvSpPr>
          <p:cNvPr id="80" name="Shape 3"/>
          <p:cNvSpPr/>
          <p:nvPr/>
        </p:nvSpPr>
        <p:spPr>
          <a:xfrm>
            <a:off x="548640" y="1874520"/>
            <a:ext cx="457201" cy="457201"/>
          </a:xfrm>
          <a:prstGeom prst="ellipse">
            <a:avLst/>
          </a:prstGeom>
          <a:solidFill>
            <a:srgbClr val="1A2B4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4"/>
          <p:cNvSpPr txBox="1"/>
          <p:nvPr/>
        </p:nvSpPr>
        <p:spPr>
          <a:xfrm>
            <a:off x="548640" y="1998543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2" name="Text 5"/>
          <p:cNvSpPr txBox="1"/>
          <p:nvPr/>
        </p:nvSpPr>
        <p:spPr>
          <a:xfrm>
            <a:off x="548639" y="2475230"/>
            <a:ext cx="31546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Limpa</a:t>
            </a:r>
          </a:p>
        </p:txBody>
      </p:sp>
      <p:sp>
        <p:nvSpPr>
          <p:cNvPr id="83" name="Text 6"/>
          <p:cNvSpPr txBox="1"/>
          <p:nvPr/>
        </p:nvSpPr>
        <p:spPr>
          <a:xfrm>
            <a:off x="548639" y="2743200"/>
            <a:ext cx="315468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B1E24"/>
                </a:solidFill>
              </a:defRPr>
            </a:lvl1pPr>
          </a:lstStyle>
          <a:p>
            <a:pPr/>
            <a:r>
              <a:t>separa marca/categoria/tamanhos; trata os 1.251 preços inválidos → NULL</a:t>
            </a:r>
          </a:p>
        </p:txBody>
      </p:sp>
      <p:sp>
        <p:nvSpPr>
          <p:cNvPr id="84" name="Shape 7"/>
          <p:cNvSpPr/>
          <p:nvPr/>
        </p:nvSpPr>
        <p:spPr>
          <a:xfrm>
            <a:off x="3886200" y="1874520"/>
            <a:ext cx="457200" cy="457201"/>
          </a:xfrm>
          <a:prstGeom prst="ellipse">
            <a:avLst/>
          </a:prstGeom>
          <a:solidFill>
            <a:srgbClr val="1A2B4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8"/>
          <p:cNvSpPr txBox="1"/>
          <p:nvPr/>
        </p:nvSpPr>
        <p:spPr>
          <a:xfrm>
            <a:off x="3886200" y="1998543"/>
            <a:ext cx="4572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6" name="Text 9"/>
          <p:cNvSpPr txBox="1"/>
          <p:nvPr/>
        </p:nvSpPr>
        <p:spPr>
          <a:xfrm>
            <a:off x="3886200" y="2475230"/>
            <a:ext cx="3154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Cria</a:t>
            </a:r>
          </a:p>
        </p:txBody>
      </p:sp>
      <p:sp>
        <p:nvSpPr>
          <p:cNvPr id="87" name="Text 10"/>
          <p:cNvSpPr txBox="1"/>
          <p:nvPr/>
        </p:nvSpPr>
        <p:spPr>
          <a:xfrm>
            <a:off x="3886200" y="2743200"/>
            <a:ext cx="315468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B1E24"/>
                </a:solidFill>
              </a:defRPr>
            </a:lvl1pPr>
          </a:lstStyle>
          <a:p>
            <a:pPr/>
            <a:r>
              <a:t>o banco a partir de banco_dados.sql</a:t>
            </a:r>
          </a:p>
        </p:txBody>
      </p:sp>
      <p:sp>
        <p:nvSpPr>
          <p:cNvPr id="88" name="Shape 11"/>
          <p:cNvSpPr/>
          <p:nvPr/>
        </p:nvSpPr>
        <p:spPr>
          <a:xfrm>
            <a:off x="7223759" y="1874520"/>
            <a:ext cx="457201" cy="457201"/>
          </a:xfrm>
          <a:prstGeom prst="ellipse">
            <a:avLst/>
          </a:prstGeom>
          <a:solidFill>
            <a:srgbClr val="1A2B4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2"/>
          <p:cNvSpPr txBox="1"/>
          <p:nvPr/>
        </p:nvSpPr>
        <p:spPr>
          <a:xfrm>
            <a:off x="7223759" y="1998543"/>
            <a:ext cx="457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" name="Text 13"/>
          <p:cNvSpPr txBox="1"/>
          <p:nvPr/>
        </p:nvSpPr>
        <p:spPr>
          <a:xfrm>
            <a:off x="7223759" y="2475230"/>
            <a:ext cx="3154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Carrega</a:t>
            </a:r>
          </a:p>
        </p:txBody>
      </p:sp>
      <p:sp>
        <p:nvSpPr>
          <p:cNvPr id="91" name="Text 14"/>
          <p:cNvSpPr txBox="1"/>
          <p:nvPr/>
        </p:nvSpPr>
        <p:spPr>
          <a:xfrm>
            <a:off x="7223759" y="2743200"/>
            <a:ext cx="315468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B1E24"/>
                </a:solidFill>
              </a:defRPr>
            </a:lvl1pPr>
          </a:lstStyle>
          <a:p>
            <a:pPr/>
            <a:r>
              <a:t>os dados e roda 2 testes de integridade ao vivo</a:t>
            </a:r>
          </a:p>
        </p:txBody>
      </p:sp>
      <p:sp>
        <p:nvSpPr>
          <p:cNvPr id="92" name="Shape 15"/>
          <p:cNvSpPr/>
          <p:nvPr/>
        </p:nvSpPr>
        <p:spPr>
          <a:xfrm>
            <a:off x="548640" y="4206240"/>
            <a:ext cx="3383280" cy="1554481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12700">
            <a:solidFill>
              <a:srgbClr val="E4E1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6"/>
          <p:cNvSpPr txBox="1"/>
          <p:nvPr/>
        </p:nvSpPr>
        <p:spPr>
          <a:xfrm>
            <a:off x="548640" y="4910327"/>
            <a:ext cx="338328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4.566</a:t>
            </a:r>
          </a:p>
        </p:txBody>
      </p:sp>
      <p:sp>
        <p:nvSpPr>
          <p:cNvPr id="94" name="Text 17"/>
          <p:cNvSpPr txBox="1"/>
          <p:nvPr/>
        </p:nvSpPr>
        <p:spPr>
          <a:xfrm>
            <a:off x="621791" y="5376671"/>
            <a:ext cx="32369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pc="100" sz="900">
                <a:solidFill>
                  <a:srgbClr val="5B6270"/>
                </a:solidFill>
              </a:defRPr>
            </a:lvl1pPr>
          </a:lstStyle>
          <a:p>
            <a:pPr/>
            <a:r>
              <a:t>PRODUTOS CARREGADOS</a:t>
            </a:r>
          </a:p>
        </p:txBody>
      </p:sp>
      <p:sp>
        <p:nvSpPr>
          <p:cNvPr id="95" name="Shape 18"/>
          <p:cNvSpPr/>
          <p:nvPr/>
        </p:nvSpPr>
        <p:spPr>
          <a:xfrm>
            <a:off x="4160520" y="4206240"/>
            <a:ext cx="3383280" cy="1554481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12700">
            <a:solidFill>
              <a:srgbClr val="E4E1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9"/>
          <p:cNvSpPr txBox="1"/>
          <p:nvPr/>
        </p:nvSpPr>
        <p:spPr>
          <a:xfrm>
            <a:off x="4160520" y="4910327"/>
            <a:ext cx="338328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" name="Text 20"/>
          <p:cNvSpPr txBox="1"/>
          <p:nvPr/>
        </p:nvSpPr>
        <p:spPr>
          <a:xfrm>
            <a:off x="4233671" y="5376671"/>
            <a:ext cx="3236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pc="100" sz="900">
                <a:solidFill>
                  <a:srgbClr val="5B6270"/>
                </a:solidFill>
              </a:defRPr>
            </a:lvl1pPr>
          </a:lstStyle>
          <a:p>
            <a:pPr/>
            <a:r>
              <a:t>REJEITADOS</a:t>
            </a:r>
          </a:p>
        </p:txBody>
      </p:sp>
      <p:sp>
        <p:nvSpPr>
          <p:cNvPr id="98" name="Shape 21"/>
          <p:cNvSpPr/>
          <p:nvPr/>
        </p:nvSpPr>
        <p:spPr>
          <a:xfrm>
            <a:off x="7772400" y="4206240"/>
            <a:ext cx="3566160" cy="1554481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 w="12700">
            <a:solidFill>
              <a:srgbClr val="E4E1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2"/>
          <p:cNvSpPr txBox="1"/>
          <p:nvPr/>
        </p:nvSpPr>
        <p:spPr>
          <a:xfrm>
            <a:off x="7772400" y="4910327"/>
            <a:ext cx="35661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13.545</a:t>
            </a:r>
          </a:p>
        </p:txBody>
      </p:sp>
      <p:sp>
        <p:nvSpPr>
          <p:cNvPr id="100" name="Text 23"/>
          <p:cNvSpPr txBox="1"/>
          <p:nvPr/>
        </p:nvSpPr>
        <p:spPr>
          <a:xfrm>
            <a:off x="7845552" y="5376671"/>
            <a:ext cx="3419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pc="100" sz="900">
                <a:solidFill>
                  <a:srgbClr val="5B6270"/>
                </a:solidFill>
              </a:defRPr>
            </a:lvl1pPr>
          </a:lstStyle>
          <a:p>
            <a:pPr/>
            <a:r>
              <a:t>VÍNCULOS TAMANHO</a:t>
            </a:r>
          </a:p>
        </p:txBody>
      </p:sp>
      <p:sp>
        <p:nvSpPr>
          <p:cNvPr id="101" name="Text 24"/>
          <p:cNvSpPr txBox="1"/>
          <p:nvPr/>
        </p:nvSpPr>
        <p:spPr>
          <a:xfrm>
            <a:off x="548640" y="647445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/>
            <a:r>
              <a:t>T1 ·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548640" y="4473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06 · RESULTADOS</a:t>
            </a:r>
          </a:p>
        </p:txBody>
      </p:sp>
      <p:sp>
        <p:nvSpPr>
          <p:cNvPr id="104" name="Text 1"/>
          <p:cNvSpPr txBox="1"/>
          <p:nvPr/>
        </p:nvSpPr>
        <p:spPr>
          <a:xfrm>
            <a:off x="548640" y="777239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1A2B4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Views analíticas</a:t>
            </a:r>
          </a:p>
        </p:txBody>
      </p:sp>
      <p:sp>
        <p:nvSpPr>
          <p:cNvPr id="105" name="Text 2"/>
          <p:cNvSpPr txBox="1"/>
          <p:nvPr/>
        </p:nvSpPr>
        <p:spPr>
          <a:xfrm>
            <a:off x="548640" y="133393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270"/>
                </a:solidFill>
              </a:defRPr>
            </a:lvl1pPr>
          </a:lstStyle>
          <a:p>
            <a:pPr/>
            <a:r>
              <a:t>vw_resumo_por_categoria — dados reais, calculados sob demanda</a:t>
            </a:r>
          </a:p>
        </p:txBody>
      </p:sp>
      <p:graphicFrame>
        <p:nvGraphicFramePr>
          <p:cNvPr id="106" name="Table 0"/>
          <p:cNvGraphicFramePr/>
          <p:nvPr/>
        </p:nvGraphicFramePr>
        <p:xfrm>
          <a:off x="548640" y="1920239"/>
          <a:ext cx="10789921" cy="25146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06240"/>
                <a:gridCol w="1828800"/>
                <a:gridCol w="2377440"/>
                <a:gridCol w="237744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Qtd.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Preço médio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Desconto médio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1A2B4C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Westernwear-Women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1.654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R$ 1.443,97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37,3%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Indianwear-Women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1.131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R$ 1.854,62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36,4%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Footwear-Women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480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R$ 2.583,48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36,4%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Jewellery-Women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438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R$ 581,63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B1E24"/>
                          </a:solidFill>
                        </a:rPr>
                        <a:t>48,0%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E4E1D8"/>
                      </a:solidFill>
                    </a:lnL>
                    <a:lnR w="12700">
                      <a:solidFill>
                        <a:srgbClr val="E4E1D8"/>
                      </a:solidFill>
                    </a:lnR>
                    <a:lnT w="12700">
                      <a:solidFill>
                        <a:srgbClr val="E4E1D8"/>
                      </a:solidFill>
                    </a:lnT>
                    <a:lnB w="12700">
                      <a:solidFill>
                        <a:srgbClr val="E4E1D8"/>
                      </a:solidFill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07" name="Text 3"/>
          <p:cNvSpPr txBox="1"/>
          <p:nvPr/>
        </p:nvSpPr>
        <p:spPr>
          <a:xfrm>
            <a:off x="548640" y="6474459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/>
            <a:r>
              <a:t>T1 ·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 txBox="1"/>
          <p:nvPr/>
        </p:nvSpPr>
        <p:spPr>
          <a:xfrm>
            <a:off x="548640" y="53878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C9A227"/>
                </a:solidFill>
              </a:defRPr>
            </a:lvl1pPr>
          </a:lstStyle>
          <a:p>
            <a:pPr/>
            <a:r>
              <a:t>07 · CONCLUSÃO</a:t>
            </a:r>
          </a:p>
        </p:txBody>
      </p:sp>
      <p:sp>
        <p:nvSpPr>
          <p:cNvPr id="110" name="Text 1"/>
          <p:cNvSpPr txBox="1"/>
          <p:nvPr/>
        </p:nvSpPr>
        <p:spPr>
          <a:xfrm>
            <a:off x="548640" y="868680"/>
            <a:ext cx="10515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Valor de negócio &amp; ROI</a:t>
            </a:r>
          </a:p>
        </p:txBody>
      </p:sp>
      <p:sp>
        <p:nvSpPr>
          <p:cNvPr id="111" name="Text 2"/>
          <p:cNvSpPr txBox="1"/>
          <p:nvPr/>
        </p:nvSpPr>
        <p:spPr>
          <a:xfrm>
            <a:off x="548640" y="1471099"/>
            <a:ext cx="10515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7CEDC"/>
                </a:solidFill>
              </a:defRPr>
            </a:lvl1pPr>
          </a:lstStyle>
          <a:p>
            <a:pPr/>
            <a:r>
              <a:t>27% de erro em um dado numérico é um risco real para qualquer busca construída em cima dele</a:t>
            </a:r>
          </a:p>
        </p:txBody>
      </p:sp>
      <p:sp>
        <p:nvSpPr>
          <p:cNvPr id="112" name="Shape 3"/>
          <p:cNvSpPr/>
          <p:nvPr/>
        </p:nvSpPr>
        <p:spPr>
          <a:xfrm>
            <a:off x="548640" y="2011679"/>
            <a:ext cx="3383280" cy="1554481"/>
          </a:xfrm>
          <a:prstGeom prst="roundRect">
            <a:avLst>
              <a:gd name="adj" fmla="val 4706"/>
            </a:avLst>
          </a:prstGeom>
          <a:solidFill>
            <a:srgbClr val="25406E"/>
          </a:solidFill>
          <a:ln w="12700">
            <a:solidFill>
              <a:srgbClr val="3A52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4"/>
          <p:cNvSpPr txBox="1"/>
          <p:nvPr/>
        </p:nvSpPr>
        <p:spPr>
          <a:xfrm>
            <a:off x="548640" y="2606040"/>
            <a:ext cx="338328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000">
                <a:solidFill>
                  <a:srgbClr val="F4E9C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~15h</a:t>
            </a:r>
          </a:p>
        </p:txBody>
      </p:sp>
      <p:sp>
        <p:nvSpPr>
          <p:cNvPr id="114" name="Text 5"/>
          <p:cNvSpPr txBox="1"/>
          <p:nvPr/>
        </p:nvSpPr>
        <p:spPr>
          <a:xfrm>
            <a:off x="640080" y="3182619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C7CEDC"/>
                </a:solidFill>
              </a:defRPr>
            </a:lvl1pPr>
          </a:lstStyle>
          <a:p>
            <a:pPr/>
            <a:r>
              <a:t>RETRABALHO EVITADO/MÊS</a:t>
            </a:r>
          </a:p>
        </p:txBody>
      </p:sp>
      <p:sp>
        <p:nvSpPr>
          <p:cNvPr id="115" name="Shape 6"/>
          <p:cNvSpPr/>
          <p:nvPr/>
        </p:nvSpPr>
        <p:spPr>
          <a:xfrm>
            <a:off x="4160520" y="2011679"/>
            <a:ext cx="3383280" cy="1554481"/>
          </a:xfrm>
          <a:prstGeom prst="roundRect">
            <a:avLst>
              <a:gd name="adj" fmla="val 4706"/>
            </a:avLst>
          </a:prstGeom>
          <a:solidFill>
            <a:srgbClr val="25406E"/>
          </a:solidFill>
          <a:ln w="12700">
            <a:solidFill>
              <a:srgbClr val="3A52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7"/>
          <p:cNvSpPr txBox="1"/>
          <p:nvPr/>
        </p:nvSpPr>
        <p:spPr>
          <a:xfrm>
            <a:off x="4160520" y="2606040"/>
            <a:ext cx="338328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000">
                <a:solidFill>
                  <a:srgbClr val="F4E9C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R$525</a:t>
            </a:r>
          </a:p>
        </p:txBody>
      </p:sp>
      <p:sp>
        <p:nvSpPr>
          <p:cNvPr id="117" name="Text 8"/>
          <p:cNvSpPr txBox="1"/>
          <p:nvPr/>
        </p:nvSpPr>
        <p:spPr>
          <a:xfrm>
            <a:off x="4251959" y="3182619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C7CEDC"/>
                </a:solidFill>
              </a:defRPr>
            </a:lvl1pPr>
          </a:lstStyle>
          <a:p>
            <a:pPr/>
            <a:r>
              <a:t>ECONOMIA MENSAL</a:t>
            </a:r>
          </a:p>
        </p:txBody>
      </p:sp>
      <p:sp>
        <p:nvSpPr>
          <p:cNvPr id="118" name="Shape 9"/>
          <p:cNvSpPr/>
          <p:nvPr/>
        </p:nvSpPr>
        <p:spPr>
          <a:xfrm>
            <a:off x="7772400" y="2011679"/>
            <a:ext cx="3383280" cy="1554481"/>
          </a:xfrm>
          <a:prstGeom prst="roundRect">
            <a:avLst>
              <a:gd name="adj" fmla="val 4706"/>
            </a:avLst>
          </a:prstGeom>
          <a:solidFill>
            <a:srgbClr val="25406E"/>
          </a:solidFill>
          <a:ln w="12700">
            <a:solidFill>
              <a:srgbClr val="3A52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0"/>
          <p:cNvSpPr txBox="1"/>
          <p:nvPr/>
        </p:nvSpPr>
        <p:spPr>
          <a:xfrm>
            <a:off x="7772400" y="2606040"/>
            <a:ext cx="338328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000">
                <a:solidFill>
                  <a:srgbClr val="F4E9C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~2,1m</a:t>
            </a:r>
          </a:p>
        </p:txBody>
      </p:sp>
      <p:sp>
        <p:nvSpPr>
          <p:cNvPr id="120" name="Text 11"/>
          <p:cNvSpPr txBox="1"/>
          <p:nvPr/>
        </p:nvSpPr>
        <p:spPr>
          <a:xfrm>
            <a:off x="7863840" y="3182619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C7CEDC"/>
                </a:solidFill>
              </a:defRPr>
            </a:lvl1pPr>
          </a:lstStyle>
          <a:p>
            <a:pPr/>
            <a:r>
              <a:t>PAYBACK</a:t>
            </a:r>
          </a:p>
        </p:txBody>
      </p:sp>
      <p:sp>
        <p:nvSpPr>
          <p:cNvPr id="121" name="Shape 12"/>
          <p:cNvSpPr/>
          <p:nvPr/>
        </p:nvSpPr>
        <p:spPr>
          <a:xfrm>
            <a:off x="548640" y="388620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25406E"/>
          </a:solidFill>
          <a:ln w="12700">
            <a:solidFill>
              <a:srgbClr val="C9A22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3"/>
          <p:cNvSpPr txBox="1"/>
          <p:nvPr/>
        </p:nvSpPr>
        <p:spPr>
          <a:xfrm>
            <a:off x="868679" y="4385880"/>
            <a:ext cx="1014984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4E9C8"/>
                </a:solidFill>
              </a:defRPr>
            </a:pPr>
            <a:r>
              <a:t>Próximo passo:  </a:t>
            </a:r>
            <a:r>
              <a:rPr b="0">
                <a:solidFill>
                  <a:srgbClr val="E6E9F0"/>
                </a:solidFill>
              </a:rPr>
              <a:t>conectar a view vw_catalogo_completo diretamente à indexação do T1 de RI, eliminando a leitura do CSV bruto (com seus dados inválidos) por lá.</a:t>
            </a:r>
          </a:p>
        </p:txBody>
      </p:sp>
      <p:sp>
        <p:nvSpPr>
          <p:cNvPr id="123" name="Text 14"/>
          <p:cNvSpPr txBox="1"/>
          <p:nvPr/>
        </p:nvSpPr>
        <p:spPr>
          <a:xfrm>
            <a:off x="-1" y="6492284"/>
            <a:ext cx="121889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8B93A8"/>
                </a:solidFill>
              </a:defRPr>
            </a:lvl1pPr>
          </a:lstStyle>
          <a:p>
            <a:pPr/>
            <a:r>
              <a:t>Carlos  ·  T1 Modelagem Informacional — Trilha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