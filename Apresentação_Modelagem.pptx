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4EA"/>
          </a:solidFill>
        </a:fill>
      </a:tcStyle>
    </a:wholeTbl>
    <a:band2H>
      <a:tcTxStyle b="def" i="def"/>
      <a:tcStyle>
        <a:tcBdr/>
        <a:fill>
          <a:solidFill>
            <a:srgbClr val="E8EBF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úmero do Slide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o do Título"/>
          <p:cNvSpPr txBox="1"/>
          <p:nvPr>
            <p:ph type="title"/>
          </p:nvPr>
        </p:nvSpPr>
        <p:spPr>
          <a:xfrm>
            <a:off x="1826683" y="769937"/>
            <a:ext cx="9753601" cy="16684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Texto do Título</a:t>
            </a:r>
          </a:p>
        </p:txBody>
      </p:sp>
      <p:sp>
        <p:nvSpPr>
          <p:cNvPr id="3" name="Nível de Corpo Um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/>
          <a:lstStyle/>
          <a:p>
            <a:pPr/>
            <a:r>
              <a:t>Nível de Corpo Um</a:t>
            </a:r>
          </a:p>
          <a:p>
            <a:pPr lvl="1"/>
            <a:r>
              <a:t>Nível de Corpo Dois</a:t>
            </a:r>
          </a:p>
          <a:p>
            <a:pPr lvl="2"/>
            <a:r>
              <a:t>Nível de Corpo Três</a:t>
            </a:r>
          </a:p>
          <a:p>
            <a:pPr lvl="3"/>
            <a:r>
              <a:t>Nível de Corpo Quatro</a:t>
            </a:r>
          </a:p>
          <a:p>
            <a:pPr lvl="4"/>
            <a:r>
              <a:t>Nível de Corpo Cinco</a:t>
            </a:r>
          </a:p>
        </p:txBody>
      </p:sp>
      <p:sp>
        <p:nvSpPr>
          <p:cNvPr id="4" name="Número do Slide"/>
          <p:cNvSpPr txBox="1"/>
          <p:nvPr>
            <p:ph type="sldNum" sz="quarter" idx="2"/>
          </p:nvPr>
        </p:nvSpPr>
        <p:spPr>
          <a:xfrm>
            <a:off x="8478981" y="6232199"/>
            <a:ext cx="258620" cy="248302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 algn="r">
              <a:defRPr sz="1200"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ct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342900" marR="0" indent="-3429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9144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-2" y="0"/>
            <a:ext cx="12188956" cy="6858000"/>
          </a:xfrm>
          <a:prstGeom prst="rect">
            <a:avLst/>
          </a:prstGeom>
          <a:solidFill>
            <a:srgbClr val="1A2B4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1" name="Text 1"/>
          <p:cNvSpPr txBox="1"/>
          <p:nvPr/>
        </p:nvSpPr>
        <p:spPr>
          <a:xfrm>
            <a:off x="-2" y="1471097"/>
            <a:ext cx="12188956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pc="300" sz="13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FUCAPE BUSINESS SCHOOL</a:t>
            </a:r>
          </a:p>
        </p:txBody>
      </p:sp>
      <p:sp>
        <p:nvSpPr>
          <p:cNvPr id="22" name="Text 2"/>
          <p:cNvSpPr txBox="1"/>
          <p:nvPr/>
        </p:nvSpPr>
        <p:spPr>
          <a:xfrm>
            <a:off x="914397" y="2085656"/>
            <a:ext cx="10360157" cy="1223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04999"/>
              </a:lnSpc>
              <a:defRPr sz="4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Normalizando o catálogo</a:t>
            </a:r>
          </a:p>
          <a:p>
            <a:pPr algn="ctr">
              <a:lnSpc>
                <a:spcPct val="104999"/>
              </a:lnSpc>
              <a:defRPr sz="4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pPr>
            <a:r>
              <a:t>que alimenta nossa busca</a:t>
            </a:r>
          </a:p>
        </p:txBody>
      </p:sp>
      <p:sp>
        <p:nvSpPr>
          <p:cNvPr id="23" name="Text 3"/>
          <p:cNvSpPr txBox="1"/>
          <p:nvPr/>
        </p:nvSpPr>
        <p:spPr>
          <a:xfrm>
            <a:off x="1371599" y="3797124"/>
            <a:ext cx="9445754" cy="4524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 algn="ctr">
              <a:lnSpc>
                <a:spcPct val="120000"/>
              </a:lnSpc>
              <a:defRPr sz="15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T1 Modelagem Informacional — Trilha C</a:t>
            </a:r>
          </a:p>
          <a:p>
            <a:pPr algn="ctr">
              <a:lnSpc>
                <a:spcPct val="120000"/>
              </a:lnSpc>
              <a:defRPr sz="15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Mesmo dataset real usado no trabalho de Recuperação da Informação</a:t>
            </a:r>
          </a:p>
        </p:txBody>
      </p:sp>
      <p:sp>
        <p:nvSpPr>
          <p:cNvPr id="24" name="Shape 4"/>
          <p:cNvSpPr/>
          <p:nvPr/>
        </p:nvSpPr>
        <p:spPr>
          <a:xfrm>
            <a:off x="2093976" y="4663440"/>
            <a:ext cx="1828802" cy="411484"/>
          </a:xfrm>
          <a:prstGeom prst="roundRect">
            <a:avLst>
              <a:gd name="adj" fmla="val 48889"/>
            </a:avLst>
          </a:prstGeom>
          <a:solidFill>
            <a:srgbClr val="25406E"/>
          </a:solidFill>
          <a:ln>
            <a:solidFill>
              <a:srgbClr val="C9A22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5" name="Text 5"/>
          <p:cNvSpPr txBox="1"/>
          <p:nvPr/>
        </p:nvSpPr>
        <p:spPr>
          <a:xfrm>
            <a:off x="2093976" y="4800644"/>
            <a:ext cx="18288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4E9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4.566 PRODUTOS</a:t>
            </a:r>
          </a:p>
        </p:txBody>
      </p:sp>
      <p:sp>
        <p:nvSpPr>
          <p:cNvPr id="26" name="Shape 6"/>
          <p:cNvSpPr/>
          <p:nvPr/>
        </p:nvSpPr>
        <p:spPr>
          <a:xfrm>
            <a:off x="4151376" y="4663440"/>
            <a:ext cx="1828802" cy="411484"/>
          </a:xfrm>
          <a:prstGeom prst="roundRect">
            <a:avLst>
              <a:gd name="adj" fmla="val 48889"/>
            </a:avLst>
          </a:prstGeom>
          <a:solidFill>
            <a:srgbClr val="25406E"/>
          </a:solidFill>
          <a:ln>
            <a:solidFill>
              <a:srgbClr val="C9A22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7" name="Text 7"/>
          <p:cNvSpPr txBox="1"/>
          <p:nvPr/>
        </p:nvSpPr>
        <p:spPr>
          <a:xfrm>
            <a:off x="4151376" y="4800644"/>
            <a:ext cx="18288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4E9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57 MARCAS</a:t>
            </a:r>
          </a:p>
        </p:txBody>
      </p:sp>
      <p:sp>
        <p:nvSpPr>
          <p:cNvPr id="28" name="Shape 8"/>
          <p:cNvSpPr/>
          <p:nvPr/>
        </p:nvSpPr>
        <p:spPr>
          <a:xfrm>
            <a:off x="6208776" y="4663440"/>
            <a:ext cx="1828802" cy="411484"/>
          </a:xfrm>
          <a:prstGeom prst="roundRect">
            <a:avLst>
              <a:gd name="adj" fmla="val 48889"/>
            </a:avLst>
          </a:prstGeom>
          <a:solidFill>
            <a:srgbClr val="25406E"/>
          </a:solidFill>
          <a:ln>
            <a:solidFill>
              <a:srgbClr val="C9A22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29" name="Text 9"/>
          <p:cNvSpPr txBox="1"/>
          <p:nvPr/>
        </p:nvSpPr>
        <p:spPr>
          <a:xfrm>
            <a:off x="6208776" y="4800644"/>
            <a:ext cx="18288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4E9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DER · MERMAID</a:t>
            </a:r>
          </a:p>
        </p:txBody>
      </p:sp>
      <p:sp>
        <p:nvSpPr>
          <p:cNvPr id="30" name="Shape 10"/>
          <p:cNvSpPr/>
          <p:nvPr/>
        </p:nvSpPr>
        <p:spPr>
          <a:xfrm>
            <a:off x="8266176" y="4663440"/>
            <a:ext cx="1828802" cy="411484"/>
          </a:xfrm>
          <a:prstGeom prst="roundRect">
            <a:avLst>
              <a:gd name="adj" fmla="val 48889"/>
            </a:avLst>
          </a:prstGeom>
          <a:solidFill>
            <a:srgbClr val="25406E"/>
          </a:solidFill>
          <a:ln>
            <a:solidFill>
              <a:srgbClr val="C9A22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1" name="Text 11"/>
          <p:cNvSpPr txBox="1"/>
          <p:nvPr/>
        </p:nvSpPr>
        <p:spPr>
          <a:xfrm>
            <a:off x="8266176" y="4800644"/>
            <a:ext cx="1828802" cy="1370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000">
                <a:solidFill>
                  <a:srgbClr val="F4E9C8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SQL + CHECK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01 · CONTEXTO</a:t>
            </a:r>
          </a:p>
        </p:txBody>
      </p:sp>
      <p:sp>
        <p:nvSpPr>
          <p:cNvPr id="34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Um CSV real, cheio de defeitos</a:t>
            </a:r>
          </a:p>
        </p:txBody>
      </p:sp>
      <p:sp>
        <p:nvSpPr>
          <p:cNvPr id="35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products.csv — o mesmo corpus usado no motor de busca do T1 de RI</a:t>
            </a:r>
          </a:p>
        </p:txBody>
      </p:sp>
      <p:sp>
        <p:nvSpPr>
          <p:cNvPr id="36" name="Shape 3"/>
          <p:cNvSpPr/>
          <p:nvPr/>
        </p:nvSpPr>
        <p:spPr>
          <a:xfrm>
            <a:off x="548640" y="1920238"/>
            <a:ext cx="164599" cy="164599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7" name="Text 4"/>
          <p:cNvSpPr txBox="1"/>
          <p:nvPr/>
        </p:nvSpPr>
        <p:spPr>
          <a:xfrm>
            <a:off x="868678" y="1935288"/>
            <a:ext cx="987552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400">
                <a:solidFill>
                  <a:srgbClr val="1A2B4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1FN quebrada  </a:t>
            </a:r>
            <a:r>
              <a:rPr b="0">
                <a:solidFill>
                  <a:srgbClr val="1B1E24"/>
                </a:solidFill>
              </a:rPr>
              <a:t>tamanhos numa célula só — "Size:Medium,Small,X-Large"</a:t>
            </a:r>
          </a:p>
        </p:txBody>
      </p:sp>
      <p:sp>
        <p:nvSpPr>
          <p:cNvPr id="38" name="Shape 5"/>
          <p:cNvSpPr/>
          <p:nvPr/>
        </p:nvSpPr>
        <p:spPr>
          <a:xfrm>
            <a:off x="548640" y="2514600"/>
            <a:ext cx="164599" cy="164594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39" name="Text 6"/>
          <p:cNvSpPr txBox="1"/>
          <p:nvPr/>
        </p:nvSpPr>
        <p:spPr>
          <a:xfrm>
            <a:off x="868678" y="2529646"/>
            <a:ext cx="987552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400">
                <a:solidFill>
                  <a:srgbClr val="1A2B4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Redundância  </a:t>
            </a:r>
            <a:r>
              <a:rPr b="0">
                <a:solidFill>
                  <a:srgbClr val="1B1E24"/>
                </a:solidFill>
              </a:rPr>
              <a:t>marca "and" repetida em 709 linhas idênticas</a:t>
            </a:r>
          </a:p>
        </p:txBody>
      </p:sp>
      <p:sp>
        <p:nvSpPr>
          <p:cNvPr id="40" name="Shape 7"/>
          <p:cNvSpPr/>
          <p:nvPr/>
        </p:nvSpPr>
        <p:spPr>
          <a:xfrm>
            <a:off x="548640" y="3108960"/>
            <a:ext cx="164599" cy="164599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1" name="Text 8"/>
          <p:cNvSpPr txBox="1"/>
          <p:nvPr/>
        </p:nvSpPr>
        <p:spPr>
          <a:xfrm>
            <a:off x="868678" y="3124007"/>
            <a:ext cx="9875523" cy="189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400">
                <a:solidFill>
                  <a:srgbClr val="1A2B4C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Categoria embutida  </a:t>
            </a:r>
            <a:r>
              <a:rPr b="0">
                <a:solidFill>
                  <a:srgbClr val="1B1E24"/>
                </a:solidFill>
              </a:rPr>
              <a:t>no meio do texto do nome do produto</a:t>
            </a:r>
          </a:p>
        </p:txBody>
      </p:sp>
      <p:sp>
        <p:nvSpPr>
          <p:cNvPr id="42" name="Shape 9"/>
          <p:cNvSpPr/>
          <p:nvPr/>
        </p:nvSpPr>
        <p:spPr>
          <a:xfrm>
            <a:off x="548640" y="3794759"/>
            <a:ext cx="10789920" cy="1097284"/>
          </a:xfrm>
          <a:prstGeom prst="roundRect">
            <a:avLst>
              <a:gd name="adj" fmla="val 5000"/>
            </a:avLst>
          </a:prstGeom>
          <a:solidFill>
            <a:srgbClr val="F7E6E3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3" name="Shape 10"/>
          <p:cNvSpPr/>
          <p:nvPr/>
        </p:nvSpPr>
        <p:spPr>
          <a:xfrm>
            <a:off x="548640" y="3794759"/>
            <a:ext cx="54868" cy="1097284"/>
          </a:xfrm>
          <a:prstGeom prst="rect">
            <a:avLst/>
          </a:prstGeom>
          <a:solidFill>
            <a:srgbClr val="A93226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44" name="Text 11"/>
          <p:cNvSpPr txBox="1"/>
          <p:nvPr/>
        </p:nvSpPr>
        <p:spPr>
          <a:xfrm>
            <a:off x="777238" y="4264967"/>
            <a:ext cx="10378445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Achado real mais forte: 1.251 de 4.566 produtos (27%) têm o preço de tabela quebrado — valor fixo "8.9" para itens de centenas de rúpias.</a:t>
            </a:r>
          </a:p>
        </p:txBody>
      </p:sp>
      <p:sp>
        <p:nvSpPr>
          <p:cNvPr id="45" name="Text 12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02 · MODELAGEM</a:t>
            </a:r>
          </a:p>
        </p:txBody>
      </p:sp>
      <p:sp>
        <p:nvSpPr>
          <p:cNvPr id="48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Diagrama Entidade-Relacionamento</a:t>
            </a:r>
          </a:p>
        </p:txBody>
      </p:sp>
      <p:sp>
        <p:nvSpPr>
          <p:cNvPr id="49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5 entidades — Produto_Tamanho resolve o N:N entre produto e tamanho</a:t>
            </a:r>
          </a:p>
        </p:txBody>
      </p:sp>
      <p:pic>
        <p:nvPicPr>
          <p:cNvPr id="50" name="Captura de Tela 2026-09-30 às 20.37.13.png" descr="Captura de Tela 2026-09-30 às 20.37.13.png"/>
          <p:cNvPicPr>
            <a:picLocks noChangeAspect="1"/>
          </p:cNvPicPr>
          <p:nvPr/>
        </p:nvPicPr>
        <p:blipFill>
          <a:blip r:embed="rId2">
            <a:extLst/>
          </a:blip>
          <a:srcRect l="0" t="2316" r="0" b="373"/>
          <a:stretch>
            <a:fillRect/>
          </a:stretch>
        </p:blipFill>
        <p:spPr>
          <a:xfrm>
            <a:off x="1618501" y="1768382"/>
            <a:ext cx="8375878" cy="4612916"/>
          </a:xfrm>
          <a:prstGeom prst="rect">
            <a:avLst/>
          </a:prstGeom>
          <a:ln w="12700">
            <a:solidFill>
              <a:srgbClr val="E4E1D8"/>
            </a:solidFill>
          </a:ln>
        </p:spPr>
      </p:pic>
      <p:sp>
        <p:nvSpPr>
          <p:cNvPr id="51" name="Text 4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03 · NORMALIZAÇÃO</a:t>
            </a:r>
          </a:p>
        </p:txBody>
      </p:sp>
      <p:sp>
        <p:nvSpPr>
          <p:cNvPr id="54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De 0FN até 3FN</a:t>
            </a:r>
          </a:p>
        </p:txBody>
      </p:sp>
      <p:sp>
        <p:nvSpPr>
          <p:cNvPr id="55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Cada etapa resolve um problema visto no CSV real</a:t>
            </a:r>
          </a:p>
        </p:txBody>
      </p:sp>
      <p:graphicFrame>
        <p:nvGraphicFramePr>
          <p:cNvPr id="56" name="Table 0"/>
          <p:cNvGraphicFramePr/>
          <p:nvPr/>
        </p:nvGraphicFramePr>
        <p:xfrm>
          <a:off x="548640" y="1828800"/>
          <a:ext cx="10789920" cy="2011680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1188720"/>
                <a:gridCol w="4572000"/>
                <a:gridCol w="5029200"/>
              </a:tblGrid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Forma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Problema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Ação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1B1E24"/>
                          </a:solidFill>
                        </a:rPr>
                        <a:t>1FN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Lista de tamanhos numa célula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Cria produto_tamanho, 1 linha por tamanho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1B1E24"/>
                          </a:solidFill>
                        </a:rPr>
                        <a:t>2FN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Marca/categoria repetiriam por tamanho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Extrai produto independente do tamanho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300">
                          <a:solidFill>
                            <a:srgbClr val="1B1E24"/>
                          </a:solidFill>
                        </a:rPr>
                        <a:t>3FN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Nome da marca dependia transitivamente do produto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Cria marca e categoria próprias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7" name="Shape 3"/>
          <p:cNvSpPr/>
          <p:nvPr/>
        </p:nvSpPr>
        <p:spPr>
          <a:xfrm>
            <a:off x="548640" y="4160520"/>
            <a:ext cx="10789920" cy="777244"/>
          </a:xfrm>
          <a:prstGeom prst="roundRect">
            <a:avLst>
              <a:gd name="adj" fmla="val 7059"/>
            </a:avLst>
          </a:prstGeom>
          <a:solidFill>
            <a:srgbClr val="F4E9C8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8" name="Shape 4"/>
          <p:cNvSpPr/>
          <p:nvPr/>
        </p:nvSpPr>
        <p:spPr>
          <a:xfrm>
            <a:off x="548640" y="4160520"/>
            <a:ext cx="54868" cy="777244"/>
          </a:xfrm>
          <a:prstGeom prst="rect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59" name="Text 5"/>
          <p:cNvSpPr txBox="1"/>
          <p:nvPr/>
        </p:nvSpPr>
        <p:spPr>
          <a:xfrm>
            <a:off x="777238" y="4470706"/>
            <a:ext cx="10378445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2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Extra: desconto não é coluna — é calculado na view a partir de preco_tabela e preco_venda.</a:t>
            </a:r>
          </a:p>
        </p:txBody>
      </p:sp>
      <p:sp>
        <p:nvSpPr>
          <p:cNvPr id="60" name="Text 6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04 · BANCO_DADOS.SQL</a:t>
            </a:r>
          </a:p>
        </p:txBody>
      </p:sp>
      <p:sp>
        <p:nvSpPr>
          <p:cNvPr id="63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A constraint que importa</a:t>
            </a:r>
          </a:p>
        </p:txBody>
      </p:sp>
      <p:sp>
        <p:nvSpPr>
          <p:cNvPr id="64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CHECK barra ativamente o dado inválido encontrado no CSV</a:t>
            </a:r>
          </a:p>
        </p:txBody>
      </p:sp>
      <p:sp>
        <p:nvSpPr>
          <p:cNvPr id="65" name="Shape 3"/>
          <p:cNvSpPr/>
          <p:nvPr/>
        </p:nvSpPr>
        <p:spPr>
          <a:xfrm>
            <a:off x="548640" y="1975104"/>
            <a:ext cx="146311" cy="146311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6" name="Text 4"/>
          <p:cNvSpPr txBox="1"/>
          <p:nvPr/>
        </p:nvSpPr>
        <p:spPr>
          <a:xfrm>
            <a:off x="868677" y="2038025"/>
            <a:ext cx="4937767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PK/FK em todas as tabelas</a:t>
            </a:r>
          </a:p>
        </p:txBody>
      </p:sp>
      <p:sp>
        <p:nvSpPr>
          <p:cNvPr id="67" name="Shape 5"/>
          <p:cNvSpPr/>
          <p:nvPr/>
        </p:nvSpPr>
        <p:spPr>
          <a:xfrm>
            <a:off x="548640" y="2660904"/>
            <a:ext cx="146311" cy="146311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68" name="Text 6"/>
          <p:cNvSpPr txBox="1"/>
          <p:nvPr/>
        </p:nvSpPr>
        <p:spPr>
          <a:xfrm>
            <a:off x="868677" y="2723825"/>
            <a:ext cx="4937767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UNIQUE em codigo_produto — sem produto duplicado</a:t>
            </a:r>
          </a:p>
        </p:txBody>
      </p:sp>
      <p:sp>
        <p:nvSpPr>
          <p:cNvPr id="69" name="Shape 7"/>
          <p:cNvSpPr/>
          <p:nvPr/>
        </p:nvSpPr>
        <p:spPr>
          <a:xfrm>
            <a:off x="548640" y="3346703"/>
            <a:ext cx="146311" cy="146311"/>
          </a:xfrm>
          <a:prstGeom prst="ellipse">
            <a:avLst/>
          </a:prstGeom>
          <a:solidFill>
            <a:srgbClr val="C9A227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0" name="Text 8"/>
          <p:cNvSpPr txBox="1"/>
          <p:nvPr/>
        </p:nvSpPr>
        <p:spPr>
          <a:xfrm>
            <a:off x="868677" y="3409624"/>
            <a:ext cx="4937767" cy="1667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CHECK (preco_tabela IS NULL OR preco_tabela &gt;= preco_venda)</a:t>
            </a:r>
          </a:p>
        </p:txBody>
      </p:sp>
      <p:sp>
        <p:nvSpPr>
          <p:cNvPr id="71" name="Text 12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05 · ETL_E_CARGA.PY</a:t>
            </a:r>
          </a:p>
        </p:txBody>
      </p:sp>
      <p:sp>
        <p:nvSpPr>
          <p:cNvPr id="74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Pipeline em 3 passos</a:t>
            </a:r>
          </a:p>
        </p:txBody>
      </p:sp>
      <p:sp>
        <p:nvSpPr>
          <p:cNvPr id="75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Um único arquivo: limpa, cria o schema, carrega e testa</a:t>
            </a:r>
          </a:p>
        </p:txBody>
      </p:sp>
      <p:sp>
        <p:nvSpPr>
          <p:cNvPr id="76" name="Shape 3"/>
          <p:cNvSpPr/>
          <p:nvPr/>
        </p:nvSpPr>
        <p:spPr>
          <a:xfrm>
            <a:off x="548640" y="1874520"/>
            <a:ext cx="457205" cy="457207"/>
          </a:xfrm>
          <a:prstGeom prst="ellipse">
            <a:avLst/>
          </a:prstGeom>
          <a:solidFill>
            <a:srgbClr val="1A2B4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77" name="Text 4"/>
          <p:cNvSpPr txBox="1"/>
          <p:nvPr/>
        </p:nvSpPr>
        <p:spPr>
          <a:xfrm>
            <a:off x="548640" y="1998540"/>
            <a:ext cx="457204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1</a:t>
            </a:r>
          </a:p>
        </p:txBody>
      </p:sp>
      <p:sp>
        <p:nvSpPr>
          <p:cNvPr id="78" name="Text 5"/>
          <p:cNvSpPr txBox="1"/>
          <p:nvPr/>
        </p:nvSpPr>
        <p:spPr>
          <a:xfrm>
            <a:off x="548638" y="2475229"/>
            <a:ext cx="315468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Limpa</a:t>
            </a:r>
          </a:p>
        </p:txBody>
      </p:sp>
      <p:sp>
        <p:nvSpPr>
          <p:cNvPr id="79" name="Text 6"/>
          <p:cNvSpPr txBox="1"/>
          <p:nvPr/>
        </p:nvSpPr>
        <p:spPr>
          <a:xfrm>
            <a:off x="548638" y="2743199"/>
            <a:ext cx="3154685" cy="3473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separa marca/categoria/tamanhos; trata os 1.251 preços inválidos → NULL</a:t>
            </a:r>
          </a:p>
        </p:txBody>
      </p:sp>
      <p:sp>
        <p:nvSpPr>
          <p:cNvPr id="80" name="Shape 7"/>
          <p:cNvSpPr/>
          <p:nvPr/>
        </p:nvSpPr>
        <p:spPr>
          <a:xfrm>
            <a:off x="3886200" y="1874520"/>
            <a:ext cx="457200" cy="457207"/>
          </a:xfrm>
          <a:prstGeom prst="ellipse">
            <a:avLst/>
          </a:prstGeom>
          <a:solidFill>
            <a:srgbClr val="1A2B4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1" name="Text 8"/>
          <p:cNvSpPr txBox="1"/>
          <p:nvPr/>
        </p:nvSpPr>
        <p:spPr>
          <a:xfrm>
            <a:off x="3886200" y="1998540"/>
            <a:ext cx="457200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</a:t>
            </a:r>
          </a:p>
        </p:txBody>
      </p:sp>
      <p:sp>
        <p:nvSpPr>
          <p:cNvPr id="82" name="Text 9"/>
          <p:cNvSpPr txBox="1"/>
          <p:nvPr/>
        </p:nvSpPr>
        <p:spPr>
          <a:xfrm>
            <a:off x="3886198" y="2475229"/>
            <a:ext cx="3154685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Cria</a:t>
            </a:r>
          </a:p>
        </p:txBody>
      </p:sp>
      <p:sp>
        <p:nvSpPr>
          <p:cNvPr id="83" name="Text 10"/>
          <p:cNvSpPr txBox="1"/>
          <p:nvPr/>
        </p:nvSpPr>
        <p:spPr>
          <a:xfrm>
            <a:off x="3886198" y="2743199"/>
            <a:ext cx="3154685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 banco a partir de banco_dados.sql</a:t>
            </a:r>
          </a:p>
        </p:txBody>
      </p:sp>
      <p:sp>
        <p:nvSpPr>
          <p:cNvPr id="84" name="Shape 11"/>
          <p:cNvSpPr/>
          <p:nvPr/>
        </p:nvSpPr>
        <p:spPr>
          <a:xfrm>
            <a:off x="7223759" y="1874520"/>
            <a:ext cx="457207" cy="457207"/>
          </a:xfrm>
          <a:prstGeom prst="ellipse">
            <a:avLst/>
          </a:prstGeom>
          <a:solidFill>
            <a:srgbClr val="1A2B4C"/>
          </a:solidFill>
          <a:ln w="12700">
            <a:miter lim="400000"/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5" name="Text 12"/>
          <p:cNvSpPr txBox="1"/>
          <p:nvPr/>
        </p:nvSpPr>
        <p:spPr>
          <a:xfrm>
            <a:off x="7223759" y="1998540"/>
            <a:ext cx="457204" cy="2091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b="1" sz="1600">
                <a:solidFill>
                  <a:srgbClr val="FFFFFF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3</a:t>
            </a:r>
          </a:p>
        </p:txBody>
      </p:sp>
      <p:sp>
        <p:nvSpPr>
          <p:cNvPr id="86" name="Text 13"/>
          <p:cNvSpPr txBox="1"/>
          <p:nvPr/>
        </p:nvSpPr>
        <p:spPr>
          <a:xfrm>
            <a:off x="7223759" y="2475229"/>
            <a:ext cx="3154684" cy="215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5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Carrega</a:t>
            </a:r>
          </a:p>
        </p:txBody>
      </p:sp>
      <p:sp>
        <p:nvSpPr>
          <p:cNvPr id="87" name="Text 14"/>
          <p:cNvSpPr txBox="1"/>
          <p:nvPr/>
        </p:nvSpPr>
        <p:spPr>
          <a:xfrm>
            <a:off x="7223759" y="2743199"/>
            <a:ext cx="3154684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>
              <a:defRPr sz="1200">
                <a:solidFill>
                  <a:srgbClr val="1B1E24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os dados e roda 2 testes de integridade ao vivo</a:t>
            </a:r>
          </a:p>
        </p:txBody>
      </p:sp>
      <p:sp>
        <p:nvSpPr>
          <p:cNvPr id="88" name="Shape 15"/>
          <p:cNvSpPr/>
          <p:nvPr/>
        </p:nvSpPr>
        <p:spPr>
          <a:xfrm>
            <a:off x="548640" y="4206240"/>
            <a:ext cx="3383280" cy="1554484"/>
          </a:xfrm>
          <a:prstGeom prst="roundRect">
            <a:avLst>
              <a:gd name="adj" fmla="val 4706"/>
            </a:avLst>
          </a:prstGeom>
          <a:solidFill>
            <a:srgbClr val="F7F7F5"/>
          </a:solidFill>
          <a:ln w="12700">
            <a:solidFill>
              <a:srgbClr val="E4E1D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89" name="Text 16"/>
          <p:cNvSpPr txBox="1"/>
          <p:nvPr/>
        </p:nvSpPr>
        <p:spPr>
          <a:xfrm>
            <a:off x="548640" y="4910327"/>
            <a:ext cx="338328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4.566</a:t>
            </a:r>
          </a:p>
        </p:txBody>
      </p:sp>
      <p:sp>
        <p:nvSpPr>
          <p:cNvPr id="90" name="Text 17"/>
          <p:cNvSpPr txBox="1"/>
          <p:nvPr/>
        </p:nvSpPr>
        <p:spPr>
          <a:xfrm>
            <a:off x="621790" y="5376671"/>
            <a:ext cx="32369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pc="100"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PRODUTOS CARREGADOS</a:t>
            </a:r>
          </a:p>
        </p:txBody>
      </p:sp>
      <p:sp>
        <p:nvSpPr>
          <p:cNvPr id="91" name="Shape 18"/>
          <p:cNvSpPr/>
          <p:nvPr/>
        </p:nvSpPr>
        <p:spPr>
          <a:xfrm>
            <a:off x="4160520" y="4206240"/>
            <a:ext cx="3383280" cy="1554484"/>
          </a:xfrm>
          <a:prstGeom prst="roundRect">
            <a:avLst>
              <a:gd name="adj" fmla="val 4706"/>
            </a:avLst>
          </a:prstGeom>
          <a:solidFill>
            <a:srgbClr val="F7F7F5"/>
          </a:solidFill>
          <a:ln w="12700">
            <a:solidFill>
              <a:srgbClr val="E4E1D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2" name="Text 19"/>
          <p:cNvSpPr txBox="1"/>
          <p:nvPr/>
        </p:nvSpPr>
        <p:spPr>
          <a:xfrm>
            <a:off x="4160520" y="4910327"/>
            <a:ext cx="338328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0</a:t>
            </a:r>
          </a:p>
        </p:txBody>
      </p:sp>
      <p:sp>
        <p:nvSpPr>
          <p:cNvPr id="93" name="Text 20"/>
          <p:cNvSpPr txBox="1"/>
          <p:nvPr/>
        </p:nvSpPr>
        <p:spPr>
          <a:xfrm>
            <a:off x="4233671" y="5376671"/>
            <a:ext cx="323698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pc="100"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REJEITADOS</a:t>
            </a:r>
          </a:p>
        </p:txBody>
      </p:sp>
      <p:sp>
        <p:nvSpPr>
          <p:cNvPr id="94" name="Shape 21"/>
          <p:cNvSpPr/>
          <p:nvPr/>
        </p:nvSpPr>
        <p:spPr>
          <a:xfrm>
            <a:off x="7772400" y="4206240"/>
            <a:ext cx="3566160" cy="1554484"/>
          </a:xfrm>
          <a:prstGeom prst="roundRect">
            <a:avLst>
              <a:gd name="adj" fmla="val 4706"/>
            </a:avLst>
          </a:prstGeom>
          <a:solidFill>
            <a:srgbClr val="F7F7F5"/>
          </a:solidFill>
          <a:ln w="12700">
            <a:solidFill>
              <a:srgbClr val="E4E1D8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95" name="Text 22"/>
          <p:cNvSpPr txBox="1"/>
          <p:nvPr/>
        </p:nvSpPr>
        <p:spPr>
          <a:xfrm>
            <a:off x="7772399" y="4910327"/>
            <a:ext cx="356616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13.545</a:t>
            </a:r>
          </a:p>
        </p:txBody>
      </p:sp>
      <p:sp>
        <p:nvSpPr>
          <p:cNvPr id="96" name="Text 23"/>
          <p:cNvSpPr txBox="1"/>
          <p:nvPr/>
        </p:nvSpPr>
        <p:spPr>
          <a:xfrm>
            <a:off x="7845552" y="5376671"/>
            <a:ext cx="3419860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algn="ctr">
              <a:defRPr spc="100"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VÍNCULOS TAMANHO</a:t>
            </a:r>
          </a:p>
        </p:txBody>
      </p:sp>
      <p:sp>
        <p:nvSpPr>
          <p:cNvPr id="97" name="Text 24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Text 0"/>
          <p:cNvSpPr txBox="1"/>
          <p:nvPr/>
        </p:nvSpPr>
        <p:spPr>
          <a:xfrm>
            <a:off x="548640" y="447347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06 · RESULTADOS</a:t>
            </a:r>
          </a:p>
        </p:txBody>
      </p:sp>
      <p:sp>
        <p:nvSpPr>
          <p:cNvPr id="100" name="Text 1"/>
          <p:cNvSpPr txBox="1"/>
          <p:nvPr/>
        </p:nvSpPr>
        <p:spPr>
          <a:xfrm>
            <a:off x="548640" y="77723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1A2B4C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Views analíticas</a:t>
            </a:r>
          </a:p>
        </p:txBody>
      </p:sp>
      <p:sp>
        <p:nvSpPr>
          <p:cNvPr id="101" name="Text 2"/>
          <p:cNvSpPr txBox="1"/>
          <p:nvPr/>
        </p:nvSpPr>
        <p:spPr>
          <a:xfrm>
            <a:off x="548640" y="133393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vw_resumo_por_categoria — dados reais, calculados sob demanda</a:t>
            </a:r>
          </a:p>
        </p:txBody>
      </p:sp>
      <p:graphicFrame>
        <p:nvGraphicFramePr>
          <p:cNvPr id="102" name="Table 0"/>
          <p:cNvGraphicFramePr/>
          <p:nvPr/>
        </p:nvGraphicFramePr>
        <p:xfrm>
          <a:off x="548640" y="1920238"/>
          <a:ext cx="10789923" cy="25146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4206240"/>
                <a:gridCol w="1828800"/>
                <a:gridCol w="2377440"/>
                <a:gridCol w="2377440"/>
              </a:tblGrid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Qtd.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Preço médio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sz="1200">
                          <a:solidFill>
                            <a:srgbClr val="FFFFFF"/>
                          </a:solidFill>
                        </a:rPr>
                        <a:t>Desconto médio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1A2B4C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Westernwear-Women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1.654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R$ 1.443,97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37,3%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Indianwear-Women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1.131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R$ 1.854,62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36,4%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Footwear-Women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480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R$ 2.583,48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36,4%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02919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Jewellery-Women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438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R$ 581,63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sz="1300">
                          <a:solidFill>
                            <a:srgbClr val="1B1E24"/>
                          </a:solidFill>
                        </a:rPr>
                        <a:t>48,0%</a:t>
                      </a:r>
                    </a:p>
                  </a:txBody>
                  <a:tcPr marL="45720" marR="45720" marT="45720" marB="45720" anchor="ctr" anchorCtr="0" horzOverflow="overflow">
                    <a:lnL w="12700">
                      <a:solidFill>
                        <a:srgbClr val="E4E1D8"/>
                      </a:solidFill>
                    </a:lnL>
                    <a:lnR w="12700">
                      <a:solidFill>
                        <a:srgbClr val="E4E1D8"/>
                      </a:solidFill>
                    </a:lnR>
                    <a:lnT w="12700">
                      <a:solidFill>
                        <a:srgbClr val="E4E1D8"/>
                      </a:solidFill>
                    </a:lnT>
                    <a:lnB w="12700">
                      <a:solidFill>
                        <a:srgbClr val="E4E1D8"/>
                      </a:solidFill>
                    </a:lnB>
                    <a:solidFill>
                      <a:srgbClr val="F7F7F5"/>
                    </a:solidFill>
                  </a:tcPr>
                </a:tc>
              </a:tr>
            </a:tbl>
          </a:graphicData>
        </a:graphic>
      </p:graphicFrame>
      <p:sp>
        <p:nvSpPr>
          <p:cNvPr id="103" name="Text 3"/>
          <p:cNvSpPr txBox="1"/>
          <p:nvPr/>
        </p:nvSpPr>
        <p:spPr>
          <a:xfrm>
            <a:off x="548638" y="6474459"/>
            <a:ext cx="6400806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900">
                <a:solidFill>
                  <a:srgbClr val="5B6270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T1 · Modelagem Informacional — Trilha C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1A2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Text 0"/>
          <p:cNvSpPr txBox="1"/>
          <p:nvPr/>
        </p:nvSpPr>
        <p:spPr>
          <a:xfrm>
            <a:off x="548640" y="538786"/>
            <a:ext cx="7315201" cy="1568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b="1" spc="200" sz="1200">
                <a:solidFill>
                  <a:srgbClr val="C9A227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07 · CONCLUSÃO</a:t>
            </a:r>
          </a:p>
        </p:txBody>
      </p:sp>
      <p:sp>
        <p:nvSpPr>
          <p:cNvPr id="106" name="Text 1"/>
          <p:cNvSpPr txBox="1"/>
          <p:nvPr/>
        </p:nvSpPr>
        <p:spPr>
          <a:xfrm>
            <a:off x="548640" y="868677"/>
            <a:ext cx="10515601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300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Valor de negócio &amp; ROI</a:t>
            </a:r>
          </a:p>
        </p:txBody>
      </p:sp>
      <p:sp>
        <p:nvSpPr>
          <p:cNvPr id="107" name="Text 2"/>
          <p:cNvSpPr txBox="1"/>
          <p:nvPr/>
        </p:nvSpPr>
        <p:spPr>
          <a:xfrm>
            <a:off x="548640" y="1471097"/>
            <a:ext cx="10515601" cy="1667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>
              <a:defRPr sz="13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27% de erro em um dado numérico é um risco real para qualquer busca construída em cima dele</a:t>
            </a:r>
          </a:p>
        </p:txBody>
      </p:sp>
      <p:sp>
        <p:nvSpPr>
          <p:cNvPr id="108" name="Shape 3"/>
          <p:cNvSpPr/>
          <p:nvPr/>
        </p:nvSpPr>
        <p:spPr>
          <a:xfrm>
            <a:off x="548640" y="2011677"/>
            <a:ext cx="3383280" cy="1554484"/>
          </a:xfrm>
          <a:prstGeom prst="roundRect">
            <a:avLst>
              <a:gd name="adj" fmla="val 4706"/>
            </a:avLst>
          </a:prstGeom>
          <a:solidFill>
            <a:srgbClr val="25406E"/>
          </a:solidFill>
          <a:ln w="12700">
            <a:solidFill>
              <a:srgbClr val="3A5285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09" name="Text 4"/>
          <p:cNvSpPr txBox="1"/>
          <p:nvPr/>
        </p:nvSpPr>
        <p:spPr>
          <a:xfrm>
            <a:off x="548640" y="2606037"/>
            <a:ext cx="338328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F4E9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~15h</a:t>
            </a:r>
          </a:p>
        </p:txBody>
      </p:sp>
      <p:sp>
        <p:nvSpPr>
          <p:cNvPr id="110" name="Text 5"/>
          <p:cNvSpPr txBox="1"/>
          <p:nvPr/>
        </p:nvSpPr>
        <p:spPr>
          <a:xfrm>
            <a:off x="640079" y="3182617"/>
            <a:ext cx="320040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RETRABALHO EVITADO/MÊS</a:t>
            </a:r>
          </a:p>
        </p:txBody>
      </p:sp>
      <p:sp>
        <p:nvSpPr>
          <p:cNvPr id="111" name="Shape 6"/>
          <p:cNvSpPr/>
          <p:nvPr/>
        </p:nvSpPr>
        <p:spPr>
          <a:xfrm>
            <a:off x="4160520" y="2011677"/>
            <a:ext cx="3383280" cy="1554484"/>
          </a:xfrm>
          <a:prstGeom prst="roundRect">
            <a:avLst>
              <a:gd name="adj" fmla="val 4706"/>
            </a:avLst>
          </a:prstGeom>
          <a:solidFill>
            <a:srgbClr val="25406E"/>
          </a:solidFill>
          <a:ln w="12700">
            <a:solidFill>
              <a:srgbClr val="3A5285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2" name="Text 7"/>
          <p:cNvSpPr txBox="1"/>
          <p:nvPr/>
        </p:nvSpPr>
        <p:spPr>
          <a:xfrm>
            <a:off x="4160520" y="2606037"/>
            <a:ext cx="338328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F4E9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R$525</a:t>
            </a:r>
          </a:p>
        </p:txBody>
      </p:sp>
      <p:sp>
        <p:nvSpPr>
          <p:cNvPr id="113" name="Text 8"/>
          <p:cNvSpPr txBox="1"/>
          <p:nvPr/>
        </p:nvSpPr>
        <p:spPr>
          <a:xfrm>
            <a:off x="4251959" y="3182617"/>
            <a:ext cx="320040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ECONOMIA MENSAL</a:t>
            </a:r>
          </a:p>
        </p:txBody>
      </p:sp>
      <p:sp>
        <p:nvSpPr>
          <p:cNvPr id="114" name="Shape 9"/>
          <p:cNvSpPr/>
          <p:nvPr/>
        </p:nvSpPr>
        <p:spPr>
          <a:xfrm>
            <a:off x="7772400" y="2011677"/>
            <a:ext cx="3383280" cy="1554484"/>
          </a:xfrm>
          <a:prstGeom prst="roundRect">
            <a:avLst>
              <a:gd name="adj" fmla="val 4706"/>
            </a:avLst>
          </a:prstGeom>
          <a:solidFill>
            <a:srgbClr val="25406E"/>
          </a:solidFill>
          <a:ln w="12700">
            <a:solidFill>
              <a:srgbClr val="3A5285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5" name="Text 10"/>
          <p:cNvSpPr txBox="1"/>
          <p:nvPr/>
        </p:nvSpPr>
        <p:spPr>
          <a:xfrm>
            <a:off x="7772400" y="2606037"/>
            <a:ext cx="3383280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b">
            <a:spAutoFit/>
          </a:bodyPr>
          <a:lstStyle>
            <a:lvl1pPr algn="ctr">
              <a:defRPr sz="3000">
                <a:solidFill>
                  <a:srgbClr val="F4E9C8"/>
                </a:solidFill>
                <a:latin typeface="Cambria"/>
                <a:ea typeface="Cambria"/>
                <a:cs typeface="Cambria"/>
                <a:sym typeface="Cambria"/>
              </a:defRPr>
            </a:lvl1pPr>
          </a:lstStyle>
          <a:p>
            <a:pPr/>
            <a:r>
              <a:t>~2,1m</a:t>
            </a:r>
          </a:p>
        </p:txBody>
      </p:sp>
      <p:sp>
        <p:nvSpPr>
          <p:cNvPr id="116" name="Text 11"/>
          <p:cNvSpPr txBox="1"/>
          <p:nvPr/>
        </p:nvSpPr>
        <p:spPr>
          <a:xfrm>
            <a:off x="7863840" y="3182617"/>
            <a:ext cx="3200404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>
            <a:lvl1pPr algn="ctr">
              <a:defRPr spc="100" sz="900">
                <a:solidFill>
                  <a:srgbClr val="C7CEDC"/>
                </a:solidFill>
                <a:latin typeface="+mj-lt"/>
                <a:ea typeface="+mj-ea"/>
                <a:cs typeface="+mj-cs"/>
                <a:sym typeface="Calibri"/>
              </a:defRPr>
            </a:lvl1pPr>
          </a:lstStyle>
          <a:p>
            <a:pPr/>
            <a:r>
              <a:t>PAYBACK</a:t>
            </a:r>
          </a:p>
        </p:txBody>
      </p:sp>
      <p:sp>
        <p:nvSpPr>
          <p:cNvPr id="117" name="Shape 12"/>
          <p:cNvSpPr/>
          <p:nvPr/>
        </p:nvSpPr>
        <p:spPr>
          <a:xfrm>
            <a:off x="548640" y="3886200"/>
            <a:ext cx="10789920" cy="1417320"/>
          </a:xfrm>
          <a:prstGeom prst="roundRect">
            <a:avLst>
              <a:gd name="adj" fmla="val 5161"/>
            </a:avLst>
          </a:prstGeom>
          <a:solidFill>
            <a:srgbClr val="25406E"/>
          </a:solidFill>
          <a:ln w="12700">
            <a:solidFill>
              <a:srgbClr val="C9A227"/>
            </a:solidFill>
          </a:ln>
        </p:spPr>
        <p:txBody>
          <a:bodyPr lIns="45718" tIns="45718" rIns="45718" bIns="45718"/>
          <a:lstStyle/>
          <a:p>
            <a:pPr>
              <a:defRPr>
                <a:latin typeface="+mj-lt"/>
                <a:ea typeface="+mj-ea"/>
                <a:cs typeface="+mj-cs"/>
                <a:sym typeface="Calibri"/>
              </a:defRPr>
            </a:pPr>
          </a:p>
        </p:txBody>
      </p:sp>
      <p:sp>
        <p:nvSpPr>
          <p:cNvPr id="118" name="Text 13"/>
          <p:cNvSpPr txBox="1"/>
          <p:nvPr/>
        </p:nvSpPr>
        <p:spPr>
          <a:xfrm>
            <a:off x="868677" y="4385879"/>
            <a:ext cx="10149845" cy="4179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>
            <a:spAutoFit/>
          </a:bodyPr>
          <a:lstStyle/>
          <a:p>
            <a:pPr>
              <a:defRPr b="1" sz="1400">
                <a:solidFill>
                  <a:srgbClr val="F4E9C8"/>
                </a:solidFill>
                <a:latin typeface="+mj-lt"/>
                <a:ea typeface="+mj-ea"/>
                <a:cs typeface="+mj-cs"/>
                <a:sym typeface="Calibri"/>
              </a:defRPr>
            </a:pPr>
            <a:r>
              <a:t>Próximo passo:  </a:t>
            </a:r>
            <a:r>
              <a:rPr b="0">
                <a:solidFill>
                  <a:srgbClr val="E6E9F0"/>
                </a:solidFill>
              </a:rPr>
              <a:t>conectar a view vw_catalogo_completo diretamente à indexação do T1 de RI, eliminando a leitura do CSV bruto (com seus dados inválidos) por lá.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